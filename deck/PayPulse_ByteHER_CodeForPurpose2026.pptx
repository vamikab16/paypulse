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5A287D">
              <a:alpha val="35000"/>
            </a:srgbClr>
          </a:solidFill>
          <a:ln w="12700">
            <a:solidFill>
              <a:srgbClr val="5A287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5669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598932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FOR PURPOSE  ·  NATWEST  · 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1338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early-warning system for SME cash-flow stress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shockwave before it hits the books.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51960"/>
            <a:ext cx="6949440" cy="1508760"/>
          </a:xfrm>
          <a:prstGeom prst="roundRect">
            <a:avLst>
              <a:gd name="adj" fmla="val 6061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4325112"/>
            <a:ext cx="54864" cy="1362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7083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BYTEHER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6451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Vamika Bhardwaj   ·   Anshika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 Gandhi Delhi Technical University for Women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3766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  ·  4 May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425196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4325112"/>
            <a:ext cx="54864" cy="136245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4370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CLOSE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46451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818120" y="5166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advance warning before an SME default — invisible to traditional credit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see paper. They miss the pulse.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11338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make up 30% of UK GDP and a similar share of an Indian bank's lending book — yet credit teams still rely on quarterly filings and annual reviews. By the time a default hits the loan-loss provision, the warning signs were 8–12 weeks old.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7432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816352"/>
            <a:ext cx="54864" cy="127101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₹4.6 Lakh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SME loans on Indian bank books — highest NPA ratio of any segment.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24528" y="27432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4528" y="2816352"/>
            <a:ext cx="54864" cy="1271016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53128" y="3337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SME defaults are 'surprise' to the lender — behavioural signals exist but go unread.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37576" y="27432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7576" y="2816352"/>
            <a:ext cx="54864" cy="1271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66176" y="3337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fail within 60 days of suppliers being paid late — contagion is fast.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4434840"/>
            <a:ext cx="11338560" cy="1783080"/>
          </a:xfrm>
          <a:prstGeom prst="roundRect">
            <a:avLst>
              <a:gd name="adj" fmla="val 615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572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FF4D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bank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19379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provisions, surprise NPAs, capital tied up in stressed books.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937760"/>
            <a:ext cx="457200" cy="45720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F5A5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89204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519379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conversation, no working-capital top-up — the firm folds before help arrives.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4937760"/>
            <a:ext cx="457200" cy="45720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21C6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9536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system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95360" y="519379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supplier networks collapse over a single delayed payment — jobs lost.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7572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  ·  TEAM BYTEHER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 turns supplier payments into a living credit signal.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supplier invoice an SME pays — early, on-time, late, missed — is a behavioural data point. PayPulse ingests this stream weekly, runs three AI models in parallel, and surfaces a single early-warning score for the relationship manager and a plain-English coaching panel for the SME owner.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78892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788920"/>
            <a:ext cx="361188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0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383280"/>
            <a:ext cx="777240" cy="77724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Radar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47365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payment delays → latent stress trajectory per SME. Catches drift, shocks and seasonality before any P&amp;L line moves.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24528" y="278892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2788920"/>
            <a:ext cx="3611880" cy="3657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0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98848" y="3383280"/>
            <a:ext cx="777240" cy="77724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FF4D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98848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Contagion Simulator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98848" y="47365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which suppliers and downstream SMEs absorb the shockwave first — concentric rings show distance-from-epicentre.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37576" y="278892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7576" y="2788920"/>
            <a:ext cx="3611880" cy="365760"/>
          </a:xfrm>
          <a:prstGeom prst="rect">
            <a:avLst/>
          </a:prstGeom>
          <a:solidFill>
            <a:srgbClr val="21C6A8"/>
          </a:solidFill>
          <a:ln w="12700">
            <a:solidFill>
              <a:srgbClr val="21C6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0456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0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11896" y="3383280"/>
            <a:ext cx="777240" cy="77724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21C6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11896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11896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↔ SME Loop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11896" y="47365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Groq-powered LLM drafts an action for the RM and a coaching message for the SME — one click sends, dashboard reflects instantly.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6217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NEW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62179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SME credit tool that treats the relationship as bidirectional — the same engine speaks to risk teams and SME owners, in their own language.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  ·  TEAM BYTEHER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KEY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capabilities, one dashboard.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856232"/>
            <a:ext cx="54864" cy="19110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984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Risk Score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per-SME score blending payment delay, terms breach and trend slope. Updated on every new invoice.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24528" y="17830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1856232"/>
            <a:ext cx="54864" cy="191109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3128" y="1965960"/>
            <a:ext cx="548640" cy="54864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FF4D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93208" y="1984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Shockwave Contagion Map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53128" y="26517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visualisation of which SMEs absorb a default first. Portfolio-level exposure-at-risk computed live.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37576" y="17830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1856232"/>
            <a:ext cx="54864" cy="1911096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6176" y="1965960"/>
            <a:ext cx="548640" cy="54864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F5A5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06256" y="1984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Simulator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66176" y="26517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if a key supplier goes late by 30 days?' — replay the next 4–8 weeks under stress assumptions.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02336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096512"/>
            <a:ext cx="54864" cy="1911096"/>
          </a:xfrm>
          <a:prstGeom prst="rect">
            <a:avLst/>
          </a:prstGeom>
          <a:solidFill>
            <a:srgbClr val="21C6A8"/>
          </a:solidFill>
          <a:ln w="12700">
            <a:solidFill>
              <a:srgbClr val="21C6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21C6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42245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Coaching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0080" y="48920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owner sees the same data as the bank, explained as actions: 'pay Materials Supplier-2 first this week'.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24528" y="402336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24528" y="4096512"/>
            <a:ext cx="54864" cy="1911096"/>
          </a:xfrm>
          <a:prstGeom prst="rect">
            <a:avLst/>
          </a:prstGeom>
          <a:solidFill>
            <a:srgbClr val="B89CFF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53128" y="4206240"/>
            <a:ext cx="548640" cy="54864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B89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53128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093208" y="42245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Action Relay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453128" y="48920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Groq-drafted next-best-action for the RM. One click pushes a support note to the SME's dashboard, live.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37576" y="402336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37576" y="4096512"/>
            <a:ext cx="54864" cy="19110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66176" y="4206240"/>
            <a:ext cx="548640" cy="54864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66176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906256" y="42245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Bias-Aware Surfacing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66176" y="48920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sector-normalised and size-banded so micro-firms aren't flagged for being small. Audited monthly.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47572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  ·  TEAM BYTEHER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invoice ledger to early-warning, in seconds.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46888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47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0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Stream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supplier payments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firms · 52 weeks)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2610612"/>
            <a:ext cx="292608" cy="219456"/>
          </a:xfrm>
          <a:prstGeom prst="rightTriangle">
            <a:avLst/>
          </a:prstGeom>
          <a:solidFill>
            <a:srgbClr val="B89CFF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82880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828800"/>
            <a:ext cx="2468880" cy="292608"/>
          </a:xfrm>
          <a:prstGeom prst="rect">
            <a:avLst/>
          </a:prstGeom>
          <a:solidFill>
            <a:srgbClr val="B89CFF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847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0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Vector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6974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Delay, terms breach,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volatility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610612"/>
            <a:ext cx="292608" cy="219456"/>
          </a:xfrm>
          <a:prstGeom prst="rightTriangle">
            <a:avLst/>
          </a:prstGeom>
          <a:solidFill>
            <a:srgbClr val="B89CFF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82880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828800"/>
            <a:ext cx="2468880" cy="29260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847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0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Tri-Engine AI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6974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 · Classifier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Groq Llama 3.3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2610612"/>
            <a:ext cx="292608" cy="219456"/>
          </a:xfrm>
          <a:prstGeom prst="rightTriangle">
            <a:avLst/>
          </a:prstGeom>
          <a:solidFill>
            <a:srgbClr val="B89CFF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182880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1828800"/>
            <a:ext cx="2468880" cy="292608"/>
          </a:xfrm>
          <a:prstGeom prst="rect">
            <a:avLst/>
          </a:prstGeom>
          <a:solidFill>
            <a:srgbClr val="21C6A8"/>
          </a:solidFill>
          <a:ln w="12700">
            <a:solidFill>
              <a:srgbClr val="21C6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1847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0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Dashboard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0" y="26974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RM view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coaching view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4023360"/>
            <a:ext cx="11338560" cy="2194560"/>
          </a:xfrm>
          <a:prstGeom prst="roundRect">
            <a:avLst>
              <a:gd name="adj" fmla="val 5000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54864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526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48006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SPA · D3-style polar viz · custom CSS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29000" y="4572000"/>
            <a:ext cx="54864" cy="1371600"/>
          </a:xfrm>
          <a:prstGeom prst="rect">
            <a:avLst/>
          </a:prstGeom>
          <a:solidFill>
            <a:srgbClr val="B89CFF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4526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11880" y="48006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· uvicorn · Pandas / NumPy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4572000"/>
            <a:ext cx="54864" cy="13716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526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8006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forecaster · XGBoost classifier · scikit-learn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006840" y="4572000"/>
            <a:ext cx="54864" cy="1371600"/>
          </a:xfrm>
          <a:prstGeom prst="rect">
            <a:avLst/>
          </a:prstGeom>
          <a:solidFill>
            <a:srgbClr val="21C6A8"/>
          </a:solidFill>
          <a:ln w="12700">
            <a:solidFill>
              <a:srgbClr val="21C6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4526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89720" y="48006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· Llama 3.3 70B · context-scoped prompts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47572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  ·  TEAM BYTEHER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AI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models. One signal. Explained at every step.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· trend + seasonality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each supplier's payment delay 4–8 weeks ahead. Picks up holiday cycles and gradual deterioration.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80060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120E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846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52w delay series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forecast + 95% CI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24528" y="178308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53128" y="25420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53128" y="29260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14 behavioural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53128" y="32918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behavioural vector to a default-probability and a stress regime (healthy / drift / acute / seasonal).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53128" y="480060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120E2A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4846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feature vector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P(default) + class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37576" y="178308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66176" y="25420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LLM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66176" y="29260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 70B · two prompts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66176" y="32918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numbers to language. SME prompt = supportive coaching. Bank prompt = risk-team next-best-action.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66176" y="480060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120E2A"/>
          </a:solidFill>
          <a:ln w="12700">
            <a:solidFill>
              <a:srgbClr val="21C6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03336" y="4846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portfolio context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JSON insight pack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619963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run on synthetic-but-realistic 50-firm portfolio data. Ground truth (default labels) is sampled from a hazard model, so we can validate honestly.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47572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  ·  TEAM BYTEHER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one truth — switch viewpoint with a toggle.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783080"/>
            <a:ext cx="5577840" cy="365760"/>
          </a:xfrm>
          <a:prstGeom prst="rect">
            <a:avLst/>
          </a:prstGeom>
          <a:solidFill>
            <a:srgbClr val="5A287D"/>
          </a:solidFill>
          <a:ln w="12700">
            <a:solidFill>
              <a:srgbClr val="5A28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· RISK ANALYST 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20E2A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048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EXPOSURE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₹46.3 Cr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377440" y="23317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20E2A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4048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IMPACTED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6888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0" y="23317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20E2A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4048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SMES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0" y="2651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68680" y="3474720"/>
            <a:ext cx="4663440" cy="2468880"/>
          </a:xfrm>
          <a:prstGeom prst="roundRect">
            <a:avLst>
              <a:gd name="adj" fmla="val 2963"/>
            </a:avLst>
          </a:prstGeom>
          <a:solidFill>
            <a:srgbClr val="120E2A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566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SHOCKWAVE EPICENTRE  ·  Meridian Engineering Ltd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4251960"/>
            <a:ext cx="182880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4D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560320" y="4443984"/>
            <a:ext cx="1280160" cy="896112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5A52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834640" y="4636008"/>
            <a:ext cx="731520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89CF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118104" y="4809744"/>
            <a:ext cx="164592" cy="16459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05456" y="4562856"/>
            <a:ext cx="118872" cy="11887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94176" y="4471416"/>
            <a:ext cx="118872" cy="11887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88336" y="5202936"/>
            <a:ext cx="118872" cy="11887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22776" y="4974336"/>
            <a:ext cx="118872" cy="118872"/>
          </a:xfrm>
          <a:prstGeom prst="ellipse">
            <a:avLst/>
          </a:prstGeom>
          <a:solidFill>
            <a:srgbClr val="B89CFF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76856" y="4882896"/>
            <a:ext cx="118872" cy="118872"/>
          </a:xfrm>
          <a:prstGeom prst="ellipse">
            <a:avLst/>
          </a:prstGeom>
          <a:solidFill>
            <a:srgbClr val="B89CFF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9856" y="5294376"/>
            <a:ext cx="118872" cy="118872"/>
          </a:xfrm>
          <a:prstGeom prst="ellipse">
            <a:avLst/>
          </a:prstGeom>
          <a:solidFill>
            <a:srgbClr val="B89CFF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783080"/>
            <a:ext cx="5623560" cy="4297680"/>
          </a:xfrm>
          <a:prstGeom prst="roundRect">
            <a:avLst>
              <a:gd name="adj" fmla="val 2553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783080"/>
            <a:ext cx="5623560" cy="365760"/>
          </a:xfrm>
          <a:prstGeom prst="rect">
            <a:avLst/>
          </a:prstGeom>
          <a:solidFill>
            <a:srgbClr val="21C6A8"/>
          </a:solidFill>
          <a:ln w="12700">
            <a:solidFill>
              <a:srgbClr val="21C6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783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0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· OWNER VIEW (Meridian Engineering)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2331720"/>
            <a:ext cx="5166360" cy="1280160"/>
          </a:xfrm>
          <a:prstGeom prst="roundRect">
            <a:avLst>
              <a:gd name="adj" fmla="val 5714"/>
            </a:avLst>
          </a:prstGeom>
          <a:solidFill>
            <a:srgbClr val="120E2A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PULSE SCORE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100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49224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Stress drift detected — last 3 weeks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3703320"/>
            <a:ext cx="5166360" cy="2240280"/>
          </a:xfrm>
          <a:prstGeom prst="roundRect">
            <a:avLst>
              <a:gd name="adj" fmla="val 3265"/>
            </a:avLst>
          </a:prstGeom>
          <a:solidFill>
            <a:srgbClr val="120E2A"/>
          </a:solidFill>
          <a:ln w="12700">
            <a:solidFill>
              <a:srgbClr val="21C6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7947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— POWERED BY GROQ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40690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"Materials Supplier 2 has been late 3 weeks running. Pay them on Wednesday — it stabilises your delay band before the bank's Friday review. Logistics Supplier 1 can wait, you're inside terms there."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539496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541324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 Your RM sent: 'Let's schedule a 15-min review on Thu.'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1480" y="619963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walkthrough: localhost:8001  ·  toggle SME ↔ Bank with the top-right switch  ·  Run Simulation triggers the contagion model.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47572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  ·  TEAM BYTEHER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BUILT RESPONSIBLY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safe, inclusive — by design.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credit-risk tool can entrench bias as easily as it removes it. PayPulse is engineered so that the same engine that helps the bank also helps the SME — and neither side is shown the other's words verbatim without consent.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679192"/>
            <a:ext cx="54864" cy="14813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70632"/>
            <a:ext cx="502920" cy="50292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leaves the bank's perimeter. Groq receives only aggregated behavioural features, never customer identity, never invoice line-items.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24528" y="260604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2679192"/>
            <a:ext cx="54864" cy="1481328"/>
          </a:xfrm>
          <a:prstGeom prst="rect">
            <a:avLst/>
          </a:prstGeom>
          <a:solidFill>
            <a:srgbClr val="21C6A8"/>
          </a:solidFill>
          <a:ln w="12700">
            <a:solidFill>
              <a:srgbClr val="21C6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2770632"/>
            <a:ext cx="502920" cy="50292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21C6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93208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53128" y="3383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are sector- and size-band normalised. Monthly disparity check across firm size — micro-firms must not flag at higher rates for being small.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37576" y="260604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7576" y="2679192"/>
            <a:ext cx="54864" cy="148132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2770632"/>
            <a:ext cx="502920" cy="50292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6176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06256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66176" y="3383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auto-sends. Every RM action and every SME message passes through a person before it reaches the other side.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3891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462272"/>
            <a:ext cx="54864" cy="14813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553712"/>
            <a:ext cx="502920" cy="50292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FF4D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80160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51663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links back to the three features that drove it. The SME sees the same reasoning the RM does — no black-box one-way credit denial.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24528" y="43891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24528" y="4462272"/>
            <a:ext cx="54864" cy="1481328"/>
          </a:xfrm>
          <a:prstGeom prst="rect">
            <a:avLst/>
          </a:prstGeom>
          <a:solidFill>
            <a:srgbClr val="B89CFF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53128" y="4553712"/>
            <a:ext cx="502920" cy="50292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B89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53128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93208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UX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453128" y="51663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coaching panel uses 14pt sans, high contrast, no colour-only signalling, screen-reader labels on the contagion graph.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37576" y="43891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37576" y="4462272"/>
            <a:ext cx="54864" cy="1481328"/>
          </a:xfrm>
          <a:prstGeom prst="rect">
            <a:avLst/>
          </a:prstGeom>
          <a:solidFill>
            <a:srgbClr val="21C6A8"/>
          </a:solidFill>
          <a:ln w="12700">
            <a:solidFill>
              <a:srgbClr val="21C6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66176" y="4553712"/>
            <a:ext cx="502920" cy="50292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21C6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66176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906256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Reporting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266176" y="51663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dashboard surfaces score distribution by sector and size — risk teams can spot drift before regulators do.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7572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  ·  TEAM BYTEHER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IMPACT &amp; SCALE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signal, system-wide payoff.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5577840" cy="4526280"/>
          </a:xfrm>
          <a:prstGeom prst="roundRect">
            <a:avLst>
              <a:gd name="adj" fmla="val 242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DEPLOYED AT A MID-SIZE BANK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12–18%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reduction in surprise SME defaults — based on 90-day advance warning translated into restructuring-vs-default outcomes from RBI 2024 SME loss data.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BENEFIT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jobs preserved per ₹100 Cr book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4983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hours saved on manual portfolio sweep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5394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lag reduced (weeks)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5806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→ 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1691640"/>
            <a:ext cx="5577840" cy="4526280"/>
          </a:xfrm>
          <a:prstGeom prst="roundRect">
            <a:avLst>
              <a:gd name="adj" fmla="val 2424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240280"/>
            <a:ext cx="54864" cy="841248"/>
          </a:xfrm>
          <a:prstGeom prst="rect">
            <a:avLst/>
          </a:prstGeom>
          <a:solidFill>
            <a:srgbClr val="21C6A8"/>
          </a:solidFill>
          <a:ln w="12700">
            <a:solidFill>
              <a:srgbClr val="21C6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1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OWNERS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5328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conversations, working-capital top-ups instead of recovery letters.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3200400"/>
            <a:ext cx="54864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200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MANAGERS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49300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watchlist replaces 200-row spreadsheets — focus on firms that can still be saved.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160520"/>
            <a:ext cx="54864" cy="84124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TEAMS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45312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provisioning. NPA volatility goes down, capital is freed for new lending.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5120640"/>
            <a:ext cx="54864" cy="84124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5120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NETWORK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541324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Contagion view lets the bank intervene upstream — one rescue can save five downstream firms.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7572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  ·  TEAM BYTEHER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A287D">
              <a:alpha val="40000"/>
            </a:srgbClr>
          </a:solidFill>
          <a:ln w="12700">
            <a:solidFill>
              <a:srgbClr val="5A287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21C6A8">
              <a:alpha val="15000"/>
            </a:srgbClr>
          </a:solidFill>
          <a:ln w="12700">
            <a:solidFill>
              <a:srgbClr val="21C6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WHAT'S NEXT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71323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PayPulse goes with more time.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6355080" cy="4297680"/>
          </a:xfrm>
          <a:prstGeom prst="roundRect">
            <a:avLst>
              <a:gd name="adj" fmla="val 2553"/>
            </a:avLst>
          </a:prstGeom>
          <a:solidFill>
            <a:srgbClr val="1A1430"/>
          </a:solidFill>
          <a:ln w="12700">
            <a:solidFill>
              <a:srgbClr val="2A2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47672"/>
            <a:ext cx="5897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39572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pilot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68833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a single bank's SME loan book + UPI/GST e-invoice feed for live evaluation.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26440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55701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supplier-payment data direct via Account Aggregator (RBI) — zero-touch onboarding.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13308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SME app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42569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Hindi/regional language support — reach the 60% of SMEs that don't use desktop dashboards.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1A143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500176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risk 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529437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multiple banks without moving data — better signal, no privacy compromise.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95160" y="1783080"/>
            <a:ext cx="4754880" cy="4297680"/>
          </a:xfrm>
          <a:prstGeom prst="roundRect">
            <a:avLst>
              <a:gd name="adj" fmla="val 3191"/>
            </a:avLst>
          </a:prstGeom>
          <a:solidFill>
            <a:srgbClr val="5A287D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21488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736092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take questions.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360920" y="3749040"/>
            <a:ext cx="402336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BYTEHER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60920" y="4206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Vamika Bhardwaj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6092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Anshika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60920" y="5029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 Gandhi Delhi Technical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for Women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60920" y="5669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B8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for Purpose 2026  ·  NatWest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7572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PAYPULSE  ·  TEAM BYTEHER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IGDTUW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PayPulse — AI Early Warning for SME Cash Flow</dc:title>
  <dc:subject>PptxGenJS Presentation</dc:subject>
  <dc:creator>Team ByteHER</dc:creator>
  <cp:lastModifiedBy>Team ByteHER</cp:lastModifiedBy>
  <cp:revision>1</cp:revision>
  <dcterms:created xsi:type="dcterms:W3CDTF">2026-04-28T09:01:28Z</dcterms:created>
  <dcterms:modified xsi:type="dcterms:W3CDTF">2026-04-28T09:01:28Z</dcterms:modified>
</cp:coreProperties>
</file>